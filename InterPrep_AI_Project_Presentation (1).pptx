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6D842E-7C55-A473-7B09-5A618020F37F}"/>
              </a:ext>
            </a:extLst>
          </p:cNvPr>
          <p:cNvSpPr txBox="1"/>
          <p:nvPr/>
        </p:nvSpPr>
        <p:spPr>
          <a:xfrm>
            <a:off x="0" y="2498190"/>
            <a:ext cx="7406639" cy="86177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Aptos"/>
              </a:rPr>
              <a:t>AI-Powered Resume &amp;</a:t>
            </a:r>
          </a:p>
          <a:p>
            <a:r>
              <a:rPr lang="en-US" sz="2500" b="1" dirty="0">
                <a:solidFill>
                  <a:srgbClr val="FFFFFF"/>
                </a:solidFill>
                <a:latin typeface="Aptos"/>
              </a:rPr>
              <a:t>Interview Preparation Platform</a:t>
            </a:r>
            <a:endParaRPr sz="25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3F17B-A601-F8D2-0C45-81E480588BF9}"/>
              </a:ext>
            </a:extLst>
          </p:cNvPr>
          <p:cNvSpPr txBox="1"/>
          <p:nvPr/>
        </p:nvSpPr>
        <p:spPr>
          <a:xfrm>
            <a:off x="2389239" y="657375"/>
            <a:ext cx="8239431" cy="86177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500" b="1" dirty="0">
                <a:latin typeface="Aptos"/>
              </a:rPr>
              <a:t>  AI-Powered Resume &amp;</a:t>
            </a:r>
          </a:p>
          <a:p>
            <a:r>
              <a:rPr lang="en-US" sz="2500" b="1" dirty="0">
                <a:latin typeface="Aptos"/>
              </a:rPr>
              <a:t>Interview Preparation Platform</a:t>
            </a:r>
            <a:endParaRPr sz="2500" b="1" i="0" dirty="0"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1244C-C4CB-B385-C6D2-43E717CCC8FD}"/>
              </a:ext>
            </a:extLst>
          </p:cNvPr>
          <p:cNvSpPr txBox="1"/>
          <p:nvPr/>
        </p:nvSpPr>
        <p:spPr>
          <a:xfrm>
            <a:off x="0" y="2015854"/>
            <a:ext cx="72463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smart career-preparation assistant for resume improvement, personalized mock interviews, and actionable feedback.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 platform combines</a:t>
            </a:r>
            <a:r>
              <a:rPr lang="en-US" dirty="0"/>
              <a:t>:- Resume analysis and improvement- Job-skill matching- AI-based mock interviews- Personalized feedback- Performance tracking It provides users with a structured and personalized approach to interview preparation.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 descr="T &amp; P - RGM College Of Engineering and Technology">
            <a:extLst>
              <a:ext uri="{FF2B5EF4-FFF2-40B4-BE49-F238E27FC236}">
                <a16:creationId xmlns:a16="http://schemas.microsoft.com/office/drawing/2014/main" id="{AD8E82A3-D532-BEA2-53C7-BDC012546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3" y="-28468"/>
            <a:ext cx="1682104" cy="16758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6F5C9C-B8C7-16A4-BBE1-1055456E8970}"/>
              </a:ext>
            </a:extLst>
          </p:cNvPr>
          <p:cNvSpPr txBox="1"/>
          <p:nvPr/>
        </p:nvSpPr>
        <p:spPr>
          <a:xfrm>
            <a:off x="2172929" y="245806"/>
            <a:ext cx="8101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RAJEEV GANDHI MEMORIAL COLLEGE OF ENGINEERING &amp; TECHNOLOGY</a:t>
            </a:r>
          </a:p>
        </p:txBody>
      </p:sp>
      <p:pic>
        <p:nvPicPr>
          <p:cNvPr id="12" name="Picture 11" descr="AI Resume Builder: Transform Your Resume with Automated Writing &amp; ATS ...">
            <a:extLst>
              <a:ext uri="{FF2B5EF4-FFF2-40B4-BE49-F238E27FC236}">
                <a16:creationId xmlns:a16="http://schemas.microsoft.com/office/drawing/2014/main" id="{D46E528C-F0D9-AE3F-A20F-7C92E4889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375" y="809451"/>
            <a:ext cx="4945624" cy="3704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28742A-C6B6-5C29-88E1-F52E0A43FDF8}"/>
              </a:ext>
            </a:extLst>
          </p:cNvPr>
          <p:cNvSpPr txBox="1"/>
          <p:nvPr/>
        </p:nvSpPr>
        <p:spPr>
          <a:xfrm>
            <a:off x="184355" y="4710929"/>
            <a:ext cx="61697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Presented by:</a:t>
            </a:r>
          </a:p>
          <a:p>
            <a:pPr marL="342900" indent="-342900">
              <a:buAutoNum type="arabicPeriod"/>
            </a:pPr>
            <a:r>
              <a:rPr lang="en-US" sz="1800" dirty="0"/>
              <a:t>B. </a:t>
            </a:r>
            <a:r>
              <a:rPr lang="en-US" sz="1800" dirty="0" err="1"/>
              <a:t>yaswanth</a:t>
            </a:r>
            <a:endParaRPr lang="en-US" sz="1800" dirty="0"/>
          </a:p>
          <a:p>
            <a:pPr marL="342900" indent="-342900">
              <a:buAutoNum type="arabicPeriod" startAt="2"/>
            </a:pPr>
            <a:r>
              <a:rPr lang="en-US" sz="1800" dirty="0"/>
              <a:t>B. Hruday</a:t>
            </a:r>
          </a:p>
          <a:p>
            <a:pPr marL="342900" indent="-342900">
              <a:buAutoNum type="arabicPeriod" startAt="2"/>
            </a:pPr>
            <a:r>
              <a:rPr lang="en-US" sz="1800" dirty="0"/>
              <a:t>R. Keerthana</a:t>
            </a:r>
          </a:p>
          <a:p>
            <a:endParaRPr lang="en-US" sz="1800" dirty="0"/>
          </a:p>
          <a:p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Department:</a:t>
            </a:r>
          </a:p>
          <a:p>
            <a:r>
              <a:rPr lang="en-US" sz="1800" dirty="0"/>
              <a:t>Computer Science &amp; Engineering(Data Science)</a:t>
            </a:r>
          </a:p>
        </p:txBody>
      </p:sp>
    </p:spTree>
    <p:extLst>
      <p:ext uri="{BB962C8B-B14F-4D97-AF65-F5344CB8AC3E}">
        <p14:creationId xmlns:p14="http://schemas.microsoft.com/office/powerpoint/2010/main" val="4192167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03D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Why do students need a smarter way to prepare for interviews?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50292"/>
          </a:xfrm>
          <a:prstGeom prst="rect">
            <a:avLst/>
          </a:prstGeom>
          <a:solidFill>
            <a:srgbClr val="2C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520440" cy="1828800"/>
          </a:xfrm>
          <a:prstGeom prst="roundRect">
            <a:avLst/>
          </a:prstGeom>
          <a:solidFill>
            <a:srgbClr val="E5E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64008" cy="1554480"/>
          </a:xfrm>
          <a:prstGeom prst="rect">
            <a:avLst/>
          </a:prstGeom>
          <a:solidFill>
            <a:srgbClr val="2A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55648"/>
            <a:ext cx="31546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2203D"/>
                </a:solidFill>
                <a:latin typeface="Aptos"/>
              </a:rPr>
              <a:t>Resume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21992"/>
            <a:ext cx="3136392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Candidates may struggle to present skills, projects, and achievements clearly.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1828800"/>
          </a:xfrm>
          <a:prstGeom prst="roundRect">
            <a:avLst/>
          </a:prstGeom>
          <a:solidFill>
            <a:srgbClr val="F0E9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64008" cy="155448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755648"/>
            <a:ext cx="31546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2203D"/>
                </a:solidFill>
                <a:latin typeface="Aptos"/>
              </a:rPr>
              <a:t>Limited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21992"/>
            <a:ext cx="3136392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Access to realistic technical and HR mock interviews can be limited.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00200"/>
            <a:ext cx="3520440" cy="1828800"/>
          </a:xfrm>
          <a:prstGeom prst="roundRect">
            <a:avLst/>
          </a:prstGeom>
          <a:solidFill>
            <a:srgbClr val="FFF2DD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64008" cy="1554480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755648"/>
            <a:ext cx="31546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2203D"/>
                </a:solidFill>
                <a:latin typeface="Aptos"/>
              </a:rPr>
              <a:t>Unclear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21992"/>
            <a:ext cx="3136392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Candidates often need specific guidance on what to improve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2203D"/>
                </a:solidFill>
                <a:latin typeface="Aptos"/>
              </a:rPr>
              <a:t>Project 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103327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263246"/>
                </a:solidFill>
                <a:latin typeface="Aptos"/>
              </a:rPr>
              <a:t>Create one platform that connects resume analysis, job-skill matching, personalized interview practice, and progress tracking—so users can prepare with a clearer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03D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A practical, student-focused career preparation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50292"/>
          </a:xfrm>
          <a:prstGeom prst="rect">
            <a:avLst/>
          </a:prstGeom>
          <a:solidFill>
            <a:srgbClr val="2C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1600200"/>
          </a:xfrm>
          <a:prstGeom prst="roundRect">
            <a:avLst/>
          </a:prstGeom>
          <a:solidFill>
            <a:srgbClr val="E5E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810512"/>
            <a:ext cx="566928" cy="566928"/>
          </a:xfrm>
          <a:prstGeom prst="ellipse">
            <a:avLst/>
          </a:prstGeom>
          <a:solidFill>
            <a:srgbClr val="2A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75104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83080"/>
            <a:ext cx="39776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2203D"/>
                </a:solidFill>
                <a:latin typeface="Aptos"/>
              </a:rPr>
              <a:t>Analyze resumes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12848"/>
            <a:ext cx="3977639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Extract education, skills, projects, and experience from uploaded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554480"/>
            <a:ext cx="5257800" cy="1600200"/>
          </a:xfrm>
          <a:prstGeom prst="roundRect">
            <a:avLst/>
          </a:prstGeom>
          <a:solidFill>
            <a:srgbClr val="E1F7E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37959" y="1810512"/>
            <a:ext cx="566928" cy="566928"/>
          </a:xfrm>
          <a:prstGeom prst="ellipse">
            <a:avLst/>
          </a:prstGeom>
          <a:solidFill>
            <a:srgbClr val="2AA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1975104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1783080"/>
            <a:ext cx="39776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2203D"/>
                </a:solidFill>
                <a:latin typeface="Aptos"/>
              </a:rPr>
              <a:t>Improve job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2212848"/>
            <a:ext cx="3977639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Compare a resume with a target job description and highlight possible skill gaps.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257800" cy="1600200"/>
          </a:xfrm>
          <a:prstGeom prst="roundRect">
            <a:avLst/>
          </a:prstGeom>
          <a:solidFill>
            <a:srgbClr val="F0E9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0120" y="3822192"/>
            <a:ext cx="566928" cy="566928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986784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794760"/>
            <a:ext cx="39776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2203D"/>
                </a:solidFill>
                <a:latin typeface="Aptos"/>
              </a:rPr>
              <a:t>Practice interviews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224528"/>
            <a:ext cx="3977639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Generate relevant technical and HR questions based on the user's profile.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566160"/>
            <a:ext cx="5257800" cy="1600200"/>
          </a:xfrm>
          <a:prstGeom prst="roundRect">
            <a:avLst/>
          </a:prstGeom>
          <a:solidFill>
            <a:srgbClr val="FFF2DD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37959" y="3822192"/>
            <a:ext cx="566928" cy="566928"/>
          </a:xfrm>
          <a:prstGeom prst="ellipse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59" y="3986784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79" y="3794760"/>
            <a:ext cx="39776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2203D"/>
                </a:solidFill>
                <a:latin typeface="Aptos"/>
              </a:rPr>
              <a:t>Give useful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4224528"/>
            <a:ext cx="3977639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Evaluate answers with a clear rubric and suggest next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dirty="0">
                <a:solidFill>
                  <a:srgbClr val="12203D"/>
                </a:solidFill>
                <a:latin typeface="Aptos"/>
              </a:rPr>
              <a:t>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From user input to personalized improvement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50292"/>
          </a:xfrm>
          <a:prstGeom prst="rect">
            <a:avLst/>
          </a:prstGeom>
          <a:solidFill>
            <a:srgbClr val="2C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971800" cy="1234440"/>
          </a:xfrm>
          <a:prstGeom prst="roundRect">
            <a:avLst/>
          </a:prstGeom>
          <a:solidFill>
            <a:srgbClr val="E5E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" y="1837944"/>
            <a:ext cx="3840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A67D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810512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03D"/>
                </a:solidFill>
                <a:latin typeface="Aptos"/>
              </a:rPr>
              <a:t>Register /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26517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F6D82"/>
                </a:solidFill>
                <a:latin typeface="Aptos"/>
              </a:rPr>
              <a:t>Profile &amp; career goal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691640"/>
            <a:ext cx="2971800" cy="1234440"/>
          </a:xfrm>
          <a:prstGeom prst="roundRect">
            <a:avLst/>
          </a:prstGeom>
          <a:solidFill>
            <a:srgbClr val="E0F7FA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06824" y="1837944"/>
            <a:ext cx="3840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CBEC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1810512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03D"/>
                </a:solidFill>
                <a:latin typeface="Aptos"/>
              </a:rPr>
              <a:t>Upload Resume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04288"/>
            <a:ext cx="26517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F6D82"/>
                </a:solidFill>
                <a:latin typeface="Aptos"/>
              </a:rPr>
              <a:t>PDF/DOCX text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691640"/>
            <a:ext cx="2971800" cy="1234440"/>
          </a:xfrm>
          <a:prstGeom prst="roundRect">
            <a:avLst/>
          </a:prstGeom>
          <a:solidFill>
            <a:srgbClr val="E1F7E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81544" y="1837944"/>
            <a:ext cx="3840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AAE7E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810512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03D"/>
                </a:solidFill>
                <a:latin typeface="Aptos"/>
              </a:rPr>
              <a:t>AI Resume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2304288"/>
            <a:ext cx="26517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F6D82"/>
                </a:solidFill>
                <a:latin typeface="Aptos"/>
              </a:rPr>
              <a:t>Skills &amp; job matching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886200"/>
            <a:ext cx="2971800" cy="1234440"/>
          </a:xfrm>
          <a:prstGeom prst="roundRect">
            <a:avLst/>
          </a:prstGeom>
          <a:solidFill>
            <a:srgbClr val="FFF2DD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81544" y="4032504"/>
            <a:ext cx="3840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09D37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4005072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03D"/>
                </a:solidFill>
                <a:latin typeface="Aptos"/>
              </a:rPr>
              <a:t>Mock Interview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4498848"/>
            <a:ext cx="26517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F6D82"/>
                </a:solidFill>
                <a:latin typeface="Aptos"/>
              </a:rPr>
              <a:t>Questions &amp; answers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886200"/>
            <a:ext cx="2971800" cy="1234440"/>
          </a:xfrm>
          <a:prstGeom prst="roundRect">
            <a:avLst/>
          </a:prstGeom>
          <a:solidFill>
            <a:srgbClr val="F0E9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06824" y="4032504"/>
            <a:ext cx="3840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7E57C2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005072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03D"/>
                </a:solidFill>
                <a:latin typeface="Aptos"/>
              </a:rPr>
              <a:t>AI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498848"/>
            <a:ext cx="26517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F6D82"/>
                </a:solidFill>
                <a:latin typeface="Aptos"/>
              </a:rPr>
              <a:t>Rubric-based evaluation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886200"/>
            <a:ext cx="2971800" cy="1234440"/>
          </a:xfrm>
          <a:prstGeom prst="roundRect">
            <a:avLst/>
          </a:prstGeom>
          <a:solidFill>
            <a:srgbClr val="E5E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" y="4032504"/>
            <a:ext cx="3840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A67D2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4005072"/>
            <a:ext cx="2212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03D"/>
                </a:solidFill>
                <a:latin typeface="Aptos"/>
              </a:rPr>
              <a:t>Progress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498848"/>
            <a:ext cx="26517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F6D82"/>
                </a:solidFill>
                <a:latin typeface="Aptos"/>
              </a:rPr>
              <a:t>Scores &amp; next steps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03320" y="2304288"/>
            <a:ext cx="365760" cy="0"/>
          </a:xfrm>
          <a:prstGeom prst="line">
            <a:avLst/>
          </a:prstGeom>
          <a:ln w="25400">
            <a:solidFill>
              <a:srgbClr val="2A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178040" y="2304288"/>
            <a:ext cx="365760" cy="0"/>
          </a:xfrm>
          <a:prstGeom prst="line">
            <a:avLst/>
          </a:prstGeom>
          <a:ln w="25400">
            <a:solidFill>
              <a:srgbClr val="2A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25712" y="2971800"/>
            <a:ext cx="0" cy="822960"/>
          </a:xfrm>
          <a:prstGeom prst="line">
            <a:avLst/>
          </a:prstGeom>
          <a:ln w="25400">
            <a:solidFill>
              <a:srgbClr val="2A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7223760" y="4498848"/>
            <a:ext cx="320040" cy="0"/>
          </a:xfrm>
          <a:prstGeom prst="line">
            <a:avLst/>
          </a:prstGeom>
          <a:ln w="25400">
            <a:solidFill>
              <a:srgbClr val="2A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3749039" y="4498848"/>
            <a:ext cx="320041" cy="0"/>
          </a:xfrm>
          <a:prstGeom prst="line">
            <a:avLst/>
          </a:prstGeom>
          <a:ln w="25400">
            <a:solidFill>
              <a:srgbClr val="2A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77240" y="562356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2203D"/>
                </a:solidFill>
                <a:latin typeface="Aptos"/>
              </a:rPr>
              <a:t>Output: a clearer resume, targeted interview practice, and measurable learning progress.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03D"/>
                </a:solidFill>
                <a:latin typeface="Aptos"/>
              </a:rPr>
              <a:t>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The platform is divided into four connected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50292"/>
          </a:xfrm>
          <a:prstGeom prst="rect">
            <a:avLst/>
          </a:prstGeom>
          <a:solidFill>
            <a:srgbClr val="2C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39"/>
            <a:ext cx="64008" cy="1371600"/>
          </a:xfrm>
          <a:prstGeom prst="rect">
            <a:avLst/>
          </a:prstGeom>
          <a:solidFill>
            <a:srgbClr val="2A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09928"/>
            <a:ext cx="493775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03D"/>
                </a:solidFill>
                <a:latin typeface="Aptos"/>
              </a:rPr>
              <a:t>1. AI Resume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76272"/>
            <a:ext cx="4919472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Upload PDF/DOCX • Extract resume text • Detect skills and sections • Compare against a job description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91639"/>
            <a:ext cx="64008" cy="1371600"/>
          </a:xfrm>
          <a:prstGeom prst="rect">
            <a:avLst/>
          </a:prstGeom>
          <a:solidFill>
            <a:srgbClr val="2AA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709928"/>
            <a:ext cx="493775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03D"/>
                </a:solidFill>
                <a:latin typeface="Aptos"/>
              </a:rPr>
              <a:t>2. AI Resume 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76272"/>
            <a:ext cx="4919472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Enter profile details • Improve bullet points • Generate a summary • Export a formatted resume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4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657600"/>
            <a:ext cx="64008" cy="13716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675888"/>
            <a:ext cx="493775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03D"/>
                </a:solidFill>
                <a:latin typeface="Aptos"/>
              </a:rPr>
              <a:t>3. AI Mock Interview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142232"/>
            <a:ext cx="4919472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Select a role • Generate technical/HR questions • Submit typed or spoken answers • Receive feedback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4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64008" cy="1371600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675888"/>
            <a:ext cx="493775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03D"/>
                </a:solidFill>
                <a:latin typeface="Aptos"/>
              </a:rPr>
              <a:t>4. Performance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42232"/>
            <a:ext cx="4919472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Track interview attempts • View feedback and scores • Identify strengths • Plan future practice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03D"/>
                </a:solidFill>
                <a:latin typeface="Aptos"/>
              </a:rPr>
              <a:t>How AI Supports 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An explainable pipeline instead of a single black-box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50292"/>
          </a:xfrm>
          <a:prstGeom prst="rect">
            <a:avLst/>
          </a:prstGeom>
          <a:solidFill>
            <a:srgbClr val="2C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240280" cy="1600200"/>
          </a:xfrm>
          <a:prstGeom prst="roundRect">
            <a:avLst/>
          </a:prstGeom>
          <a:solidFill>
            <a:srgbClr val="E5E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148840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A67D2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1965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3246"/>
                </a:solidFill>
                <a:latin typeface="Aptos"/>
              </a:rPr>
              <a:t>Resume + job description
Interview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920240"/>
            <a:ext cx="2240280" cy="1600200"/>
          </a:xfrm>
          <a:prstGeom prst="roundRect">
            <a:avLst/>
          </a:prstGeom>
          <a:solidFill>
            <a:srgbClr val="E0F7FA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CBECF"/>
                </a:solidFill>
                <a:latin typeface="Aptos"/>
              </a:rPr>
              <a:t>PREPROCESS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1965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3246"/>
                </a:solidFill>
                <a:latin typeface="Aptos"/>
              </a:rPr>
              <a:t>Extract text
Clean and segment 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2240280" cy="1600200"/>
          </a:xfrm>
          <a:prstGeom prst="roundRect">
            <a:avLst/>
          </a:prstGeom>
          <a:solidFill>
            <a:srgbClr val="E1F7E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2148840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AAE7E"/>
                </a:solidFill>
                <a:latin typeface="Aptos"/>
              </a:rP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51760"/>
            <a:ext cx="1965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3246"/>
                </a:solidFill>
                <a:latin typeface="Aptos"/>
              </a:rPr>
              <a:t>NLP and skill matching
Question/answer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920240"/>
            <a:ext cx="2240280" cy="1600200"/>
          </a:xfrm>
          <a:prstGeom prst="roundRect">
            <a:avLst/>
          </a:prstGeom>
          <a:solidFill>
            <a:srgbClr val="F0E9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0888" y="2148840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E57C2"/>
                </a:solidFill>
                <a:latin typeface="Aptos"/>
              </a:rPr>
              <a:t>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651760"/>
            <a:ext cx="1965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3246"/>
                </a:solidFill>
                <a:latin typeface="Aptos"/>
              </a:rPr>
              <a:t>Relevant suggestions
Scores with explanations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2724912"/>
            <a:ext cx="502920" cy="0"/>
          </a:xfrm>
          <a:prstGeom prst="line">
            <a:avLst/>
          </a:prstGeom>
          <a:ln w="22860">
            <a:solidFill>
              <a:srgbClr val="2A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06440" y="2724912"/>
            <a:ext cx="502919" cy="0"/>
          </a:xfrm>
          <a:prstGeom prst="line">
            <a:avLst/>
          </a:prstGeom>
          <a:ln w="22860">
            <a:solidFill>
              <a:srgbClr val="2A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2724912"/>
            <a:ext cx="502920" cy="0"/>
          </a:xfrm>
          <a:prstGeom prst="line">
            <a:avLst/>
          </a:prstGeom>
          <a:ln w="22860">
            <a:solidFill>
              <a:srgbClr val="2A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4160520"/>
            <a:ext cx="5212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2203D"/>
                </a:solidFill>
                <a:latin typeface="Aptos"/>
              </a:rPr>
              <a:t>Possible techniques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5074920" cy="11430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63246"/>
                </a:solidFill>
                <a:latin typeface="Aptos"/>
              </a:defRPr>
            </a:pPr>
            <a:r>
              <a:t>•  PDF/DOCX text extraction</a:t>
            </a:r>
          </a:p>
          <a:p>
            <a:pPr>
              <a:spcAft>
                <a:spcPts val="400"/>
              </a:spcAft>
              <a:defRPr sz="1200">
                <a:solidFill>
                  <a:srgbClr val="263246"/>
                </a:solidFill>
                <a:latin typeface="Aptos"/>
              </a:defRPr>
            </a:pPr>
            <a:r>
              <a:t>•  TF-IDF or embeddings for resume–job matching</a:t>
            </a:r>
          </a:p>
          <a:p>
            <a:pPr>
              <a:spcAft>
                <a:spcPts val="400"/>
              </a:spcAft>
              <a:defRPr sz="1200">
                <a:solidFill>
                  <a:srgbClr val="263246"/>
                </a:solidFill>
                <a:latin typeface="Aptos"/>
              </a:defRPr>
            </a:pPr>
            <a:r>
              <a:t>•  Hugging Face models for selected NLP 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16052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2203D"/>
                </a:solidFill>
                <a:latin typeface="Aptos"/>
              </a:rPr>
              <a:t>Evaluation principles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572000"/>
            <a:ext cx="4983480" cy="11430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63246"/>
                </a:solidFill>
                <a:latin typeface="Aptos"/>
              </a:defRPr>
            </a:pPr>
            <a:r>
              <a:t>•  Use a transparent answer rubric</a:t>
            </a:r>
          </a:p>
          <a:p>
            <a:pPr>
              <a:spcAft>
                <a:spcPts val="400"/>
              </a:spcAft>
              <a:defRPr sz="1200">
                <a:solidFill>
                  <a:srgbClr val="263246"/>
                </a:solidFill>
                <a:latin typeface="Aptos"/>
              </a:defRPr>
            </a:pPr>
            <a:r>
              <a:t>•  Explain why feedback was suggested</a:t>
            </a:r>
          </a:p>
          <a:p>
            <a:pPr>
              <a:spcAft>
                <a:spcPts val="400"/>
              </a:spcAft>
              <a:defRPr sz="1200">
                <a:solidFill>
                  <a:srgbClr val="263246"/>
                </a:solidFill>
                <a:latin typeface="Aptos"/>
              </a:defRPr>
            </a:pPr>
            <a:r>
              <a:t>•  Protect resumes and interview responses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03D"/>
                </a:solidFill>
                <a:latin typeface="Aptos"/>
              </a:rPr>
              <a:t>Proposed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50292"/>
          </a:xfrm>
          <a:prstGeom prst="rect">
            <a:avLst/>
          </a:prstGeom>
          <a:solidFill>
            <a:srgbClr val="2C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10424160" cy="777240"/>
          </a:xfrm>
          <a:prstGeom prst="roundRect">
            <a:avLst/>
          </a:prstGeom>
          <a:solidFill>
            <a:srgbClr val="E5E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1719072"/>
            <a:ext cx="2468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67D2"/>
                </a:solidFill>
                <a:latin typeface="Aptos"/>
              </a:rPr>
              <a:t>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719072"/>
            <a:ext cx="7315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246"/>
                </a:solidFill>
                <a:latin typeface="Aptos"/>
              </a:rPr>
              <a:t>Web frontend • Resume upload • Interview room • Feedback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43200"/>
            <a:ext cx="10424160" cy="777240"/>
          </a:xfrm>
          <a:prstGeom prst="roundRect">
            <a:avLst/>
          </a:prstGeom>
          <a:solidFill>
            <a:srgbClr val="E1F7E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862072"/>
            <a:ext cx="2468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AE7E"/>
                </a:solidFill>
                <a:latin typeface="Aptos"/>
              </a:rPr>
              <a:t>APPLICATION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862072"/>
            <a:ext cx="7315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246"/>
                </a:solidFill>
                <a:latin typeface="Aptos"/>
              </a:rPr>
              <a:t>Authentication • File validation • API routes • Session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886200"/>
            <a:ext cx="10424160" cy="777240"/>
          </a:xfrm>
          <a:prstGeom prst="roundRect">
            <a:avLst/>
          </a:prstGeom>
          <a:solidFill>
            <a:srgbClr val="F0E9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4005072"/>
            <a:ext cx="2468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57C2"/>
                </a:solidFill>
                <a:latin typeface="Aptos"/>
              </a:rPr>
              <a:t>AI / NLP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005072"/>
            <a:ext cx="7315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246"/>
                </a:solidFill>
                <a:latin typeface="Aptos"/>
              </a:rPr>
              <a:t>Text extraction • Skill matching • Question generation • Answer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029200"/>
            <a:ext cx="10424160" cy="777240"/>
          </a:xfrm>
          <a:prstGeom prst="roundRect">
            <a:avLst/>
          </a:prstGeom>
          <a:solidFill>
            <a:srgbClr val="FFF2DD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" y="5148072"/>
            <a:ext cx="2468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9D37"/>
                </a:solidFill>
                <a:latin typeface="Aptos"/>
              </a:rPr>
              <a:t>DATA &amp;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5148072"/>
            <a:ext cx="7315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246"/>
                </a:solidFill>
                <a:latin typeface="Aptos"/>
              </a:rPr>
              <a:t>User/session database • File handling • Docker (if supported) •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03D"/>
                </a:solidFill>
                <a:latin typeface="Aptos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50292"/>
          </a:xfrm>
          <a:prstGeom prst="rect">
            <a:avLst/>
          </a:prstGeom>
          <a:solidFill>
            <a:srgbClr val="2C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1600200"/>
          </a:xfrm>
          <a:prstGeom prst="roundRect">
            <a:avLst/>
          </a:prstGeom>
          <a:solidFill>
            <a:srgbClr val="E5E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1325880"/>
          </a:xfrm>
          <a:prstGeom prst="rect">
            <a:avLst/>
          </a:prstGeom>
          <a:solidFill>
            <a:srgbClr val="2A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03D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21992"/>
            <a:ext cx="304495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Existing frontend framework
HTML/CSS/JavaScript as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00200"/>
            <a:ext cx="3429000" cy="1600200"/>
          </a:xfrm>
          <a:prstGeom prst="roundRect">
            <a:avLst/>
          </a:prstGeom>
          <a:solidFill>
            <a:srgbClr val="E1F7E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737360"/>
            <a:ext cx="64008" cy="1325880"/>
          </a:xfrm>
          <a:prstGeom prst="rect">
            <a:avLst/>
          </a:prstGeom>
          <a:solidFill>
            <a:srgbClr val="2AA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755648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03D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221992"/>
            <a:ext cx="304495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Python + Flask/FastAPI
Choose one compatible framework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00200"/>
            <a:ext cx="3429000" cy="1600200"/>
          </a:xfrm>
          <a:prstGeom prst="roundRect">
            <a:avLst/>
          </a:prstGeom>
          <a:solidFill>
            <a:srgbClr val="F0E9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737360"/>
            <a:ext cx="64008" cy="132588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8" y="1755648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03D"/>
                </a:solidFill>
                <a:latin typeface="Aptos"/>
              </a:rPr>
              <a:t>NLP /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221992"/>
            <a:ext cx="304495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Hugging Face Transformers
TF-IDF or sentence embeddings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429000" cy="1600200"/>
          </a:xfrm>
          <a:prstGeom prst="roundRect">
            <a:avLst/>
          </a:prstGeom>
          <a:solidFill>
            <a:srgbClr val="FFF2DD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794760"/>
            <a:ext cx="64008" cy="1325880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813048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03D"/>
                </a:solidFill>
                <a:latin typeface="Aptos"/>
              </a:rPr>
              <a:t>File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79392"/>
            <a:ext cx="304495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PyMuPDF for PDFs
python-docx for DOCX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657600"/>
            <a:ext cx="3429000" cy="1600200"/>
          </a:xfrm>
          <a:prstGeom prst="roundRect">
            <a:avLst/>
          </a:prstGeom>
          <a:solidFill>
            <a:srgbClr val="E0F7FA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26280" y="3794760"/>
            <a:ext cx="64008" cy="1325880"/>
          </a:xfrm>
          <a:prstGeom prst="rect">
            <a:avLst/>
          </a:prstGeom>
          <a:solidFill>
            <a:srgbClr val="2C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3813048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03D"/>
                </a:solidFill>
                <a:latin typeface="Aptos"/>
              </a:rPr>
              <a:t>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279392"/>
            <a:ext cx="304495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SQLite for prototype
Protect user files and sessions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657600"/>
            <a:ext cx="3429000" cy="1600200"/>
          </a:xfrm>
          <a:prstGeom prst="roundRect">
            <a:avLst/>
          </a:prstGeom>
          <a:solidFill>
            <a:srgbClr val="E5E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3794760"/>
            <a:ext cx="64008" cy="1325880"/>
          </a:xfrm>
          <a:prstGeom prst="rect">
            <a:avLst/>
          </a:prstGeom>
          <a:solidFill>
            <a:srgbClr val="2A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8" y="3813048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03D"/>
                </a:solidFill>
                <a:latin typeface="Aptos"/>
              </a:rPr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279392"/>
            <a:ext cx="304495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D82"/>
                </a:solidFill>
                <a:latin typeface="Aptos"/>
              </a:rPr>
              <a:t>Docker / Compose if configured
Environment variables for secrets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03D"/>
                </a:solidFill>
                <a:latin typeface="Aptos"/>
              </a:rPr>
              <a:t>Implementation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50292"/>
          </a:xfrm>
          <a:prstGeom prst="rect">
            <a:avLst/>
          </a:prstGeom>
          <a:solidFill>
            <a:srgbClr val="2C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554480"/>
            <a:ext cx="438912" cy="438912"/>
          </a:xfrm>
          <a:prstGeom prst="ellipse">
            <a:avLst/>
          </a:prstGeom>
          <a:solidFill>
            <a:srgbClr val="2A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82495"/>
            <a:ext cx="43891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" y="1993391"/>
            <a:ext cx="0" cy="429769"/>
          </a:xfrm>
          <a:prstGeom prst="line">
            <a:avLst/>
          </a:prstGeom>
          <a:ln w="254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554480" y="1508760"/>
            <a:ext cx="9784080" cy="658368"/>
          </a:xfrm>
          <a:prstGeom prst="roundRect">
            <a:avLst/>
          </a:prstGeom>
          <a:solidFill>
            <a:srgbClr val="E5E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1600200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67D2"/>
                </a:solidFill>
                <a:latin typeface="Aptos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581912"/>
            <a:ext cx="2240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03D"/>
                </a:solidFill>
                <a:latin typeface="Aptos"/>
              </a:rPr>
              <a:t>Run the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581912"/>
            <a:ext cx="5989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D82"/>
                </a:solidFill>
                <a:latin typeface="Aptos"/>
              </a:rPr>
              <a:t>Install dependencies; understand frontend/backend; fix setup errors.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450591"/>
            <a:ext cx="438912" cy="438912"/>
          </a:xfrm>
          <a:prstGeom prst="ellipse">
            <a:avLst/>
          </a:prstGeom>
          <a:solidFill>
            <a:srgbClr val="2AA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578608"/>
            <a:ext cx="43891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88136" y="2889504"/>
            <a:ext cx="0" cy="429768"/>
          </a:xfrm>
          <a:prstGeom prst="line">
            <a:avLst/>
          </a:prstGeom>
          <a:ln w="254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554480" y="2404872"/>
            <a:ext cx="9784080" cy="658368"/>
          </a:xfrm>
          <a:prstGeom prst="roundRect">
            <a:avLst/>
          </a:prstGeom>
          <a:solidFill>
            <a:srgbClr val="E1F7E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37360" y="2496312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AE7E"/>
                </a:solidFill>
                <a:latin typeface="Aptos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478024"/>
            <a:ext cx="2240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03D"/>
                </a:solidFill>
                <a:latin typeface="Aptos"/>
              </a:rPr>
              <a:t>Resume analyzer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78024"/>
            <a:ext cx="5989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D82"/>
                </a:solidFill>
                <a:latin typeface="Aptos"/>
              </a:rPr>
              <a:t>Upload PDF/DOCX; extract text; show detected sections and skills.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3346703"/>
            <a:ext cx="438912" cy="43891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474720"/>
            <a:ext cx="43891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88136" y="3785615"/>
            <a:ext cx="0" cy="429768"/>
          </a:xfrm>
          <a:prstGeom prst="line">
            <a:avLst/>
          </a:prstGeom>
          <a:ln w="254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554480" y="3300984"/>
            <a:ext cx="9784080" cy="658368"/>
          </a:xfrm>
          <a:prstGeom prst="roundRect">
            <a:avLst/>
          </a:prstGeom>
          <a:solidFill>
            <a:srgbClr val="F0E9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37360" y="3392424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E57C2"/>
                </a:solidFill>
                <a:latin typeface="Aptos"/>
              </a:rP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374136"/>
            <a:ext cx="2240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03D"/>
                </a:solidFill>
                <a:latin typeface="Aptos"/>
              </a:rPr>
              <a:t>Resume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374136"/>
            <a:ext cx="5989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D82"/>
                </a:solidFill>
                <a:latin typeface="Aptos"/>
              </a:rPr>
              <a:t>Add job description matching and practical suggestions.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4242816"/>
            <a:ext cx="438912" cy="438912"/>
          </a:xfrm>
          <a:prstGeom prst="ellipse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370832"/>
            <a:ext cx="43891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88136" y="4681728"/>
            <a:ext cx="0" cy="429768"/>
          </a:xfrm>
          <a:prstGeom prst="line">
            <a:avLst/>
          </a:prstGeom>
          <a:ln w="254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554480" y="4197096"/>
            <a:ext cx="9784080" cy="658368"/>
          </a:xfrm>
          <a:prstGeom prst="roundRect">
            <a:avLst/>
          </a:prstGeom>
          <a:solidFill>
            <a:srgbClr val="FFF2DD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737360" y="4288536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09D37"/>
                </a:solidFill>
                <a:latin typeface="Aptos"/>
              </a:rPr>
              <a:t>PHASE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4270248"/>
            <a:ext cx="2240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03D"/>
                </a:solidFill>
                <a:latin typeface="Aptos"/>
              </a:rPr>
              <a:t>Mock interview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270248"/>
            <a:ext cx="5989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D82"/>
                </a:solidFill>
                <a:latin typeface="Aptos"/>
              </a:rPr>
              <a:t>Generate questions; collect answers; evaluate with a clear rubric.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" y="5138928"/>
            <a:ext cx="438912" cy="438912"/>
          </a:xfrm>
          <a:prstGeom prst="ellipse">
            <a:avLst/>
          </a:prstGeom>
          <a:solidFill>
            <a:srgbClr val="2C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266944"/>
            <a:ext cx="43891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480" y="5093208"/>
            <a:ext cx="9784080" cy="658368"/>
          </a:xfrm>
          <a:prstGeom prst="roundRect">
            <a:avLst/>
          </a:prstGeom>
          <a:solidFill>
            <a:srgbClr val="E0F7FA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737360" y="5184648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CBECF"/>
                </a:solidFill>
                <a:latin typeface="Aptos"/>
              </a:rPr>
              <a:t>PHASE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5166360"/>
            <a:ext cx="2240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03D"/>
                </a:solidFill>
                <a:latin typeface="Aptos"/>
              </a:rPr>
              <a:t>Dashboard &amp; testing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166360"/>
            <a:ext cx="5989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D82"/>
                </a:solidFill>
                <a:latin typeface="Aptos"/>
              </a:rPr>
              <a:t>Save results; show progress; test privacy and edge cases.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03D"/>
                </a:solidFill>
                <a:latin typeface="Aptos"/>
              </a:rPr>
              <a:t>Expected Benefits &amp; Responsible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50292"/>
          </a:xfrm>
          <a:prstGeom prst="rect">
            <a:avLst/>
          </a:prstGeom>
          <a:solidFill>
            <a:srgbClr val="2C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828800"/>
          </a:xfrm>
          <a:prstGeom prst="roundRect">
            <a:avLst/>
          </a:prstGeom>
          <a:solidFill>
            <a:srgbClr val="E1F7E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64008" cy="1554480"/>
          </a:xfrm>
          <a:prstGeom prst="rect">
            <a:avLst/>
          </a:prstGeom>
          <a:solidFill>
            <a:srgbClr val="2AA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01368"/>
            <a:ext cx="4846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2203D"/>
                </a:solidFill>
                <a:latin typeface="Aptos"/>
              </a:rPr>
              <a:t>Benefits for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4828032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D82"/>
                </a:solidFill>
                <a:latin typeface="Aptos"/>
              </a:rPr>
              <a:t>• More structured preparation
• Clear resume improvement ideas
• Repeatable interview practice
• Progress tracking over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1828800"/>
          </a:xfrm>
          <a:prstGeom prst="roundRect">
            <a:avLst/>
          </a:prstGeom>
          <a:solidFill>
            <a:srgbClr val="F0E9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64008" cy="155448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01368"/>
            <a:ext cx="4846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2203D"/>
                </a:solidFill>
                <a:latin typeface="Aptos"/>
              </a:rPr>
              <a:t>Responsible AI considerations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67712"/>
            <a:ext cx="4828032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D82"/>
                </a:solidFill>
                <a:latin typeface="Aptos"/>
              </a:rPr>
              <a:t>• Ask permission before storing data
• Avoid exposing personal information
• Explain scores and limitations
• Let users review AI-generated content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2CBEC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987552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One platform. A clearer path to interview readiness.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1" y="1325880"/>
            <a:ext cx="4307512" cy="203132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project </a:t>
            </a:r>
            <a:r>
              <a:rPr sz="18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aims to combine resume analysis, personalized mock interviews, and progress tracking in one accessible experience. The first milestone is a reliable working prototype; advanced AI features can be added after the core workflow is tested</a:t>
            </a:r>
            <a:r>
              <a:rPr sz="1800" b="0" i="0" dirty="0">
                <a:solidFill>
                  <a:srgbClr val="D8E3F5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4745736"/>
            <a:ext cx="135331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4745736"/>
            <a:ext cx="135331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2764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D2DCEE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D'siar Tech">
            <a:extLst>
              <a:ext uri="{FF2B5EF4-FFF2-40B4-BE49-F238E27FC236}">
                <a16:creationId xmlns:a16="http://schemas.microsoft.com/office/drawing/2014/main" id="{73666E16-F714-A75D-3655-40B457358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960" y="822960"/>
            <a:ext cx="5568008" cy="5568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4F35AE-CF9D-6A3E-8CE2-09D2339E083B}"/>
              </a:ext>
            </a:extLst>
          </p:cNvPr>
          <p:cNvSpPr txBox="1"/>
          <p:nvPr/>
        </p:nvSpPr>
        <p:spPr>
          <a:xfrm>
            <a:off x="1267526" y="4568874"/>
            <a:ext cx="2320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831</Words>
  <Application>Microsoft Office PowerPoint</Application>
  <PresentationFormat>Widescreen</PresentationFormat>
  <Paragraphs>143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InterPrep AI - AI Resume and Interview Preparation Platform</dc:title>
  <dc:subject>Final-year project workflow, architecture, modules, and implementation roadmap</dc:subject>
  <dc:creator>Keerthana</dc:creator>
  <cp:keywords>AI, resume analyzer, mock interview, NLP, machine learning, Python</cp:keywords>
  <dc:description>generated using python-pptx</dc:description>
  <cp:lastModifiedBy>KEERTHANA S</cp:lastModifiedBy>
  <cp:revision>5</cp:revision>
  <dcterms:created xsi:type="dcterms:W3CDTF">2013-01-27T09:14:16Z</dcterms:created>
  <dcterms:modified xsi:type="dcterms:W3CDTF">2026-10-23T15:20:50Z</dcterms:modified>
  <cp:category/>
</cp:coreProperties>
</file>